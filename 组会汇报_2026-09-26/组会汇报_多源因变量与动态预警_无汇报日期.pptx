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下一年使用率下降比例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发出警报</c:v>
                </c:pt>
                <c:pt idx="1">
                  <c:v>未发警报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66.66666666666666</c:v>
                </c:pt>
                <c:pt idx="1">
                  <c:v>44.0</c:v>
                </c:pt>
              </c:numCache>
            </c:numRef>
          </c:val>
        </c:ser>
        <c:dLbls>
          <c:numFmt formatCode="0.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Express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1562</c:v>
                </c:pt>
                <c:pt idx="1">
                  <c:v>1160</c:v>
                </c:pt>
                <c:pt idx="2">
                  <c:v>1338</c:v>
                </c:pt>
                <c:pt idx="3">
                  <c:v>853</c:v>
                </c:pt>
                <c:pt idx="4">
                  <c:v>603</c:v>
                </c:pt>
                <c:pt idx="5">
                  <c:v>424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Fastify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3515</c:v>
                </c:pt>
                <c:pt idx="1">
                  <c:v>2501</c:v>
                </c:pt>
                <c:pt idx="2">
                  <c:v>2907</c:v>
                </c:pt>
                <c:pt idx="3">
                  <c:v>2370</c:v>
                </c:pt>
                <c:pt idx="4">
                  <c:v>4849</c:v>
                </c:pt>
                <c:pt idx="5">
                  <c:v>3105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Flask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1384</c:v>
                </c:pt>
                <c:pt idx="1">
                  <c:v>863</c:v>
                </c:pt>
                <c:pt idx="2">
                  <c:v>802</c:v>
                </c:pt>
                <c:pt idx="3">
                  <c:v>868</c:v>
                </c:pt>
                <c:pt idx="4">
                  <c:v>646</c:v>
                </c:pt>
                <c:pt idx="5">
                  <c:v>420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Phoenix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1617</c:v>
                </c:pt>
                <c:pt idx="1">
                  <c:v>1035</c:v>
                </c:pt>
                <c:pt idx="2">
                  <c:v>1187</c:v>
                </c:pt>
                <c:pt idx="3">
                  <c:v>1160</c:v>
                </c:pt>
                <c:pt idx="4">
                  <c:v>1007</c:v>
                </c:pt>
                <c:pt idx="5">
                  <c:v>1052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jQuery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1080</c:v>
                </c:pt>
                <c:pt idx="1">
                  <c:v>996</c:v>
                </c:pt>
                <c:pt idx="2">
                  <c:v>692</c:v>
                </c:pt>
                <c:pt idx="3">
                  <c:v>358</c:v>
                </c:pt>
                <c:pt idx="4">
                  <c:v>464</c:v>
                </c:pt>
                <c:pt idx="5">
                  <c:v>403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106070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多源因变量与动态预警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331720"/>
            <a:ext cx="104241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D6EEED"/>
                </a:solidFill>
                <a:latin typeface="Microsoft YaHei"/>
              </a:defRPr>
            </a:pPr>
            <a:r>
              <a:t>开源技术采纳研究的前瞻检验与 GitHub 评论对照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650992"/>
            <a:ext cx="8229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D6EEED"/>
                </a:solidFill>
                <a:latin typeface="Microsoft YaHei"/>
              </a:defRPr>
            </a:pPr>
            <a:r>
              <a:t>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这次研究要回答的问题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资料：前期汇报与跨平台、评论状态研究总结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107899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07E80"/>
                </a:solidFill>
                <a:latin typeface="Microsoft YaHei"/>
              </a:defRPr>
            </a:pPr>
            <a:r>
              <a:t>研究问题：把“用户评论”等问卷外结果变量纳入实验。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1060704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本次新增两个检验：</a:t>
            </a:r>
          </a:p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① 旧预警能否预测下一年使用率、想用率、欣赏率下降？</a:t>
            </a:r>
          </a:p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② 同一信号能否对应下一年 GitHub 主仓评论量下降？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74336"/>
            <a:ext cx="103327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已有研究提示：跨平台“水平对应”不等于时间领先；评论状态在小样本中未稳定改善预测。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先修正上次汇报的解释边界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依据：本项目数据构造代码；Stack Overflow 2022 调查方法说明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8046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上次用语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本次准确口径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β₁≈0.80 是用户留存率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跨年技术比例的回归系数；无法跟踪同一用户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β₂≈0.24 是意愿转化率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想用比例的预测关联；不是个人转化概率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负渴望缺口是净流出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同年两道题的比例差；需用未来结果验证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257800"/>
            <a:ext cx="1069848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E80"/>
                </a:solidFill>
                <a:latin typeface="Microsoft YaHei"/>
              </a:defRPr>
            </a:pPr>
            <a:r>
              <a:t>因此，以下所有结果都称“预警关联”，不称因果效应。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数据与时间顺序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来源：项目 panel.csv；GitHub REST API /repos/{owner}/{repo}/issues/comments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41732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Stack Overflow：2018—2022 年技术面板。2019—2021 年发出警报，检查下一年问卷结果。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752344"/>
            <a:ext cx="1069848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GitHub：5 个公开主仓，2018—2023 年逐年统计 Issue/PR 对话评论。用 t 年警报检查 t+1 年评论变化。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4690872"/>
            <a:ext cx="105156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36623"/>
                </a:solidFill>
                <a:latin typeface="Microsoft YaHei"/>
              </a:defRPr>
            </a:pPr>
            <a:r>
              <a:t>评论指标是“参与数量”，不代表情绪、满意度或全部技术生态；API 完整分页后计数，不保存正文。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问卷内部：警报与下一年使用率下降有关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来源：code/results/tables/warning_validation_so.csv；按技术聚类重采样 2,000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96112" y="1444752"/>
          <a:ext cx="59893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673352"/>
            <a:ext cx="4114800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62A41"/>
                </a:solidFill>
                <a:latin typeface="Microsoft YaHei"/>
              </a:defRPr>
            </a:pPr>
            <a:r>
              <a:t>144 个有效样本</a:t>
            </a:r>
          </a:p>
          <a:p>
            <a:pPr>
              <a:spcAft>
                <a:spcPts val="1000"/>
              </a:spcAft>
              <a:defRPr sz="2100" b="1">
                <a:solidFill>
                  <a:srgbClr val="162A41"/>
                </a:solidFill>
                <a:latin typeface="Microsoft YaHei"/>
              </a:defRPr>
            </a:pPr>
            <a:r>
              <a:t>69 次警报，46 次随后下降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694176"/>
            <a:ext cx="411480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风险差 +22.7 个百分点</a:t>
            </a:r>
          </a:p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聚类区间 [5.1, 41.2]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换一个因变量，预警表现随之变化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来源：code/results/tables/warning_validation_so.csv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481328"/>
          <a:ext cx="1078992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560320"/>
                <a:gridCol w="2926080"/>
              </a:tblGrid>
              <a:tr h="75895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下一年下降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无警报组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差值（百分点）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使用率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+22.7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想用率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75.4%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61.3%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+14.0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欣赏率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47.8%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64.0%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-16.2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24128" y="4965192"/>
            <a:ext cx="100584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C36623"/>
                </a:solidFill>
                <a:latin typeface="Microsoft YaHei"/>
              </a:defRPr>
            </a:pPr>
            <a:r>
              <a:t>预警关联集中在“下一年使用率”。欣赏率方向相反，不能把三项因变量合称为同一类衰退。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时间稳定性：2019 年警报没有领先优势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来源：code/results/tables/warning_validation_by_year.csv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481328"/>
          <a:ext cx="1078992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291840"/>
                <a:gridCol w="3474720"/>
              </a:tblGrid>
              <a:tr h="7589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预警年份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警报后使用率下降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无警报使用率下降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78.3%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57.1%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992624"/>
            <a:ext cx="10332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C36623"/>
                </a:solidFill>
                <a:latin typeface="Microsoft YaHei"/>
              </a:defRPr>
            </a:pPr>
            <a:r>
              <a:t>合并样本的优势主要来自 2020、2021 年；不能宣称已得到稳定的跨年预警规则。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GitHub 评论：真实的问卷外结果变量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来源：GitHub REST API；code/data/processed/github_comment_yearly.csv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417320"/>
          <a:ext cx="79095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23960" y="1746504"/>
            <a:ext cx="2587752" cy="3017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按创建时间统计。</a:t>
            </a:r>
          </a:p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只含主仓 Issue/PR 对话评论。</a:t>
            </a:r>
          </a:p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绝对规模不宜跨技术直接比较。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跨平台：评论量检验仍是小样本探索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来源：code/results/tables/warning_validation_github.csv 及逐项明细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7E80"/>
                </a:solidFill>
                <a:latin typeface="Microsoft YaHei"/>
              </a:defRPr>
            </a:pPr>
            <a:r>
              <a:t>9 个可比“技术×年份”观测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04872"/>
            <a:ext cx="10515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7 次问卷警报，其中 6 次下一年主仓评论量下降。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92424"/>
            <a:ext cx="10515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警报组下降率 85.7%；无警报组 50.0%。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28032"/>
            <a:ext cx="105156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36623"/>
                </a:solidFill>
                <a:latin typeface="Microsoft YaHei"/>
              </a:defRPr>
            </a:pPr>
            <a:r>
              <a:t>结论仅适用于这批仓库。项目治理、版本发布、机器人及仓库迁移均可能改变评论量。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双源信号用于核查优先级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来源：code/results/tables/multisignal_warning_latest.csv；观察截点 2022 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362456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475488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问卷警报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评论动量(log)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核查标签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-0.35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Fastify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不可判定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+0.72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问卷历史不足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不可判定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问卷历史不足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jQuery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+0.26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问卷警报但评论未降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8" y="55412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7E80"/>
                </a:solidFill>
                <a:latin typeface="Microsoft YaHei"/>
              </a:defRPr>
            </a:pPr>
            <a:r>
              <a:t>同向收缩：优先人工核查。信号冲突：检查仓库代表性与问卷口径。标签不是风险概率。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研究结论与下一轮实验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依据：本次回测及跨平台、评论状态研究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108813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0"/>
                </a:solidFill>
                <a:latin typeface="Microsoft YaHei"/>
              </a:defRPr>
            </a:pPr>
            <a:r>
              <a:t>可支持：旧渴望缺口规则与下一年问卷使用率下降有关。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432304"/>
            <a:ext cx="1088136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C36623"/>
                </a:solidFill>
                <a:latin typeface="Microsoft YaHei"/>
              </a:defRPr>
            </a:pPr>
            <a:r>
              <a:t>尚不支持：把该规则直接解释为用户流失、情绪下降，或跨平台通用预警。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4005072"/>
            <a:ext cx="10789920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62A41"/>
                </a:solidFill>
                <a:latin typeface="Microsoft YaHei"/>
              </a:defRPr>
            </a:pPr>
            <a:r>
              <a:t>下一轮优先做：扩大独立仓库样本；区分人工/机器人评论及 Issue/PR；统一问卷技术别名；用未见过的年份检验。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