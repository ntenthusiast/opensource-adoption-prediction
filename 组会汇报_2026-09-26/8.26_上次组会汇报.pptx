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开源技术采纳率预测与竞争力归因研究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DDE7F2"/>
                </a:solidFill>
                <a:latin typeface="微软雅黑" panose="020B0503020204020204" charset="-122"/>
              </a:rPr>
              <a:t>——「不足与后续工作」进展汇报</a:t>
            </a:r>
            <a:endParaRPr sz="2800" b="0">
              <a:solidFill>
                <a:srgbClr val="DDE7F2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19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汇报人：黄恺祺</a:t>
            </a:r>
            <a:endParaRPr sz="16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南京大学 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</a:rPr>
              <a:t>人工智能学院</a:t>
            </a:r>
            <a:endParaRPr lang="zh-CN" sz="16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sz="16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BCEE2"/>
                </a:solidFill>
                <a:latin typeface="微软雅黑" panose="020B0503020204020204" charset="-122"/>
              </a:rPr>
              <a:t>基于 Stack Overflow 2018–2022 真实开发者调查数据</a:t>
            </a:r>
            <a:endParaRPr sz="1300" b="0">
              <a:solidFill>
                <a:srgbClr val="BBCEE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一、回顾：上次工作与五项遗留问题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C6FBB"/>
                </a:solidFill>
                <a:latin typeface="微软雅黑" panose="020B0503020204020204" charset="-122"/>
              </a:rPr>
              <a:t>上次核心结论（基于合规模拟面板数据）</a:t>
            </a:r>
            <a:endParaRPr sz="17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采纳惯性 β1≈0.80 + 渴望转化率 β2≈0.23，仅两变量即可解释 98.9% 的采纳率变化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「渴望缺口」= 渴望率 − 使用率，识别 Rust/Go（净流入）与 JavaScript/HTML/CSS（净流出）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C6FBB"/>
                </a:solidFill>
                <a:latin typeface="微软雅黑" panose="020B0503020204020204" charset="-122"/>
              </a:rPr>
              <a:t>上次明确提出的「不足与后续工作」（本次逐项完成）</a:t>
            </a:r>
            <a:endParaRPr sz="17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27AE60"/>
                </a:solidFill>
                <a:latin typeface="微软雅黑" panose="020B0503020204020204" charset="-122"/>
              </a:rPr>
              <a:t>短期 ① 用真实多年份调查数据替换模拟数据，验证 β1≈0.80 / β2≈0.23</a:t>
            </a:r>
            <a:endParaRPr sz="1500" b="0">
              <a:solidFill>
                <a:srgbClr val="27AE60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27AE60"/>
                </a:solidFill>
                <a:latin typeface="微软雅黑" panose="020B0503020204020204" charset="-122"/>
              </a:rPr>
              <a:t>短期 ② 引入 SHAP 值，量化「渴望缺口」对单项技术预测的贡献</a:t>
            </a:r>
            <a:endParaRPr sz="1500" b="0">
              <a:solidFill>
                <a:srgbClr val="27AE60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E67E22"/>
                </a:solidFill>
                <a:latin typeface="微软雅黑" panose="020B0503020204020204" charset="-122"/>
              </a:rPr>
              <a:t>中期 ③ 将迁移网络的 PageRank / 社区划分等图特征纳入随机森林</a:t>
            </a:r>
            <a:endParaRPr sz="1500" b="0">
              <a:solidFill>
                <a:srgbClr val="E67E22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E67E22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E67E22"/>
                </a:solidFill>
                <a:latin typeface="微软雅黑" panose="020B0503020204020204" charset="-122"/>
              </a:rPr>
              <a:t>中期 ④ 尝试 XGBoost / LightGBM，与随机森林横向对比</a:t>
            </a:r>
            <a:endParaRPr sz="1500" b="0">
              <a:solidFill>
                <a:srgbClr val="E67E22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C0392B"/>
                </a:solidFill>
                <a:latin typeface="微软雅黑" panose="020B0503020204020204" charset="-122"/>
              </a:rPr>
              <a:t>长期 ⑤ 构建「存量-增量-口碑」三维动态预警系统</a:t>
            </a:r>
            <a:endParaRPr sz="1500" b="0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2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二、数据：获取真实多年份调查数据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C6FBB"/>
                </a:solidFill>
                <a:latin typeface="微软雅黑" panose="020B0503020204020204" charset="-122"/>
              </a:rPr>
              <a:t>数据源与处理</a:t>
            </a:r>
            <a:endParaRPr sz="17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Stack Overflow 官方年度开发者调查 2018–2022（公开可下载），共 5 年、约 38 万名受访者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统一抽取四大领域（语言/数据库/平台/Web框架）的「已使用」与「想使用」列，处理 2020→2021 年列名变更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计算每项技术的 usage / desire / admiration，构建「技术 × 年份」面板，并生成滞后特征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3291840" cy="1371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50791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2C6FBB"/>
                </a:solidFill>
                <a:latin typeface="微软雅黑" panose="020B0503020204020204" charset="-122"/>
              </a:rPr>
              <a:t>159 项技术</a:t>
            </a:r>
            <a:endParaRPr sz="24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581143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覆盖四大技术领域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80560" y="3977639"/>
            <a:ext cx="3291840" cy="1371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50791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67E22"/>
                </a:solidFill>
                <a:latin typeface="微软雅黑" panose="020B0503020204020204" charset="-122"/>
              </a:rPr>
              <a:t>253 条样本</a:t>
            </a:r>
            <a:endParaRPr sz="2400" b="1">
              <a:solidFill>
                <a:srgbClr val="E67E2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4581143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含完整滞后特征的建模样本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38160" y="3977639"/>
            <a:ext cx="3291840" cy="13716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50791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27AE60"/>
                </a:solidFill>
                <a:latin typeface="微软雅黑" panose="020B0503020204020204" charset="-122"/>
              </a:rPr>
              <a:t>4 个年度转移</a:t>
            </a:r>
            <a:endParaRPr sz="24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38160" y="4581143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2019–2022 逐年前向预测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注：2016/2017 数据托管与题目格式差异较大，2023/2024 需网页表单下载，故本阶段采用口径一致的 2018–2022 五年窗口；代码已支持一键扩展到更多年份。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3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三、结果 ①：真实数据几乎完美复现 β1 / β2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6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真实数据回归：β1(采纳惯性)=0.8033，β2(渴望转化率)=0.2415，R²=0.9562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7AE60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27AE60"/>
                </a:solidFill>
                <a:latin typeface="微软雅黑" panose="020B0503020204020204" charset="-122"/>
              </a:rPr>
              <a:t>对比模拟设定 0.80 / 0.23：β1 偏差仅 +0.42%，β2 偏差 +4.99%——原论文的模拟参数高度符合真实采纳动力学</a:t>
            </a:r>
            <a:endParaRPr sz="1400" b="0">
              <a:solidFill>
                <a:srgbClr val="27AE60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年份固定效应稳健性检验：β1=0.8024、β2=0.2430，结论不变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3_regression_valid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71800"/>
            <a:ext cx="11247120" cy="4421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4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三、结果 ①（续）：分领域异质性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C6FBB"/>
                </a:solidFill>
                <a:latin typeface="微软雅黑" panose="020B0503020204020204" charset="-122"/>
              </a:rPr>
              <a:t>「惯性 vs 意愿」在不同技术赛道中差异显著</a:t>
            </a:r>
            <a:endParaRPr sz="17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2103120"/>
                <a:gridCol w="1463040"/>
                <a:gridCol w="310896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领域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β1 采纳惯性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β2 渴望转化率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R²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解读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数据库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0.898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0.128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0.970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惯性最强、最稳定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编程语言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0.847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0.167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0.986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存量基本盘牢固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Web 框架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0.744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0.292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0.945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更新换代更快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平台工具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0.685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0.375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0.835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最受意愿/趋势驱动</a:t>
                      </a:r>
                      <a:endParaRPr sz="14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</a:rPr>
              <a:t>启示：「80/23」是全局均值，而非放之四海皆准——平台与框架类技术更依赖增量意愿，</a:t>
            </a:r>
            <a:endParaRPr sz="13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</a:rPr>
              <a:t>数据库与语言类技术更依赖存量惯性。技术选型时应结合赛道调整判断权重。</a:t>
            </a:r>
            <a:endParaRPr sz="13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5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四、结果 ②：SHAP 归因——量化「渴望缺口」贡献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6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测试集 R²=0.9645；SHAP 显示「历史惯性 t-1」贡献 0.1345，占绝对主导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E67E22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E67E22"/>
                </a:solidFill>
                <a:latin typeface="微软雅黑" panose="020B0503020204020204" charset="-122"/>
              </a:rPr>
              <a:t>「渴望率/渴望缺口」类特征合计 SHAP 占比约 4.79%——证实原论文的「时间窗口稀释效应」</a:t>
            </a:r>
            <a:endParaRPr sz="1400" b="0">
              <a:solidFill>
                <a:srgbClr val="E67E22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渴望率虽占比小，但在回归中独立统计显著（β2=0.24），两者回答不同问题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4_shap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0"/>
            <a:ext cx="5486400" cy="3383357"/>
          </a:xfrm>
          <a:prstGeom prst="rect">
            <a:avLst/>
          </a:prstGeom>
        </p:spPr>
      </p:pic>
      <p:pic>
        <p:nvPicPr>
          <p:cNvPr id="7" name="Picture 6" descr="04_shap_by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17520"/>
            <a:ext cx="5577840" cy="3079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6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五、结果 ③：迁移网络图特征提升预测精度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用训练年份受访者数据构建技术「共现网络」（138 节点、7364 条边）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提取 PageRank、加权度、Louvain 社区标签三类图特征，并入随机森林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600" b="1">
                <a:solidFill>
                  <a:srgbClr val="27AE60"/>
                </a:solidFill>
                <a:latin typeface="微软雅黑" panose="020B0503020204020204" charset="-122"/>
              </a:rPr>
              <a:t>▪ </a:t>
            </a:r>
            <a:r>
              <a:rPr sz="1600" b="1">
                <a:solidFill>
                  <a:srgbClr val="27AE60"/>
                </a:solidFill>
                <a:latin typeface="微软雅黑" panose="020B0503020204020204" charset="-122"/>
              </a:rPr>
              <a:t>测试集 R² 由 0.9656 提升至 0.9719（+0.0063），RMSE 由 0.0298 降至 0.0270</a:t>
            </a:r>
            <a:endParaRPr sz="16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5_graph_featur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0"/>
            <a:ext cx="11247120" cy="4698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7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六、结果 ④：三种集成模型横向对比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C6FBB"/>
                </a:solidFill>
                <a:latin typeface="微软雅黑" panose="020B0503020204020204" charset="-122"/>
              </a:rPr>
              <a:t>相同特征、相同时序切分下的测试集精度</a:t>
            </a:r>
            <a:endParaRPr sz="1700" b="1">
              <a:solidFill>
                <a:srgbClr val="2C6FB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8288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模型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RMSE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MAE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交叉验证 R²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C6FB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随机森林 RF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0.9644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0.0304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0.0205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0.8662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XGBoost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0.9610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0.0318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0.0196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0.8297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LightGBM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0.9535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0.0347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0.0213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0.7767</a:t>
                      </a:r>
                      <a:endParaRPr sz="15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6_boosting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80560"/>
            <a:ext cx="6583680" cy="2606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663440"/>
            <a:ext cx="3931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结论：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小样本（253 条）场景下，随机森林仍是精度与稳定性最优的选择；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梯度提升模型更依赖大数据量才能发挥优势。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8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七、结果 ⑤：「存量 × 增量 × 口碑」三维动态预警系统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规则：渴望缺口连续 2 年为负 → 自动触发「衰退预警」；连续 2 年为正 → 「增长信号」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4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400" b="1">
                <a:solidFill>
                  <a:srgbClr val="1F2937"/>
                </a:solidFill>
                <a:latin typeface="微软雅黑" panose="020B0503020204020204" charset="-122"/>
              </a:rPr>
              <a:t>共 159 项技术：衰退预警 52 项 / 增长信号 34 项 / 观察稳定 73 项</a:t>
            </a:r>
            <a:endParaRPr sz="14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7_early_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14600"/>
            <a:ext cx="6949440" cy="4384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25146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0392B"/>
                </a:solidFill>
                <a:latin typeface="微软雅黑" panose="020B0503020204020204" charset="-122"/>
              </a:rPr>
              <a:t>衰退预警（示例）</a:t>
            </a:r>
            <a:endParaRPr sz="1500" b="1">
              <a:solidFill>
                <a:srgbClr val="C039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26679" y="29260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JavaScript 缺口 −0.21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MySQL −0.20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HTML/CSS −0.19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jQuery −0.18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SQL −0.15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26679" y="46177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</a:rPr>
              <a:t>增长信号（示例）</a:t>
            </a:r>
            <a:endParaRPr sz="15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26679" y="502920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Rust 缺口 +0.148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Kubernetes +0.145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Go +0.107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Docker +0.086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</a:rPr>
              <a:t>Svelte +0.079</a:t>
            </a:r>
            <a:endParaRPr sz="13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9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八、总结与展望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五项后续工作已全部完成并给出可复现代码（run_all.py 一键运行）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7AE60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27AE60"/>
                </a:solidFill>
                <a:latin typeface="微软雅黑" panose="020B0503020204020204" charset="-122"/>
              </a:rPr>
              <a:t>核心发现：真实数据几乎完美复现 β1≈0.80 / β2≈0.23，模拟设定经受住了真实检验</a:t>
            </a:r>
            <a:endParaRPr sz="1500" b="0">
              <a:solidFill>
                <a:srgbClr val="27AE60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SHAP 证实「时间窗口稀释效应」；图特征使 R² 再提升 0.0063；小样本下随机森林仍最优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三维预警系统可自动识别 52 项衰退预警技术（JavaScript/MySQL/HTML-CSS…）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2C6FBB"/>
                </a:solidFill>
                <a:latin typeface="微软雅黑" panose="020B0503020204020204" charset="-122"/>
              </a:rPr>
              <a:t>▪ </a:t>
            </a:r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不足与后续：跨年技术名需进一步对齐（如 Bash/Shell 变体）；可接入 2023/2024 与图神经网络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10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感谢聆听，恳请各位老师同学批评指正！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500" b="0">
                <a:solidFill>
                  <a:srgbClr val="DDE7F2"/>
                </a:solidFill>
                <a:latin typeface="微软雅黑" panose="020B0503020204020204" charset="-122"/>
              </a:rPr>
              <a:t>数据：Stack Overflow Annual Developer Survey 2018–2022</a:t>
            </a:r>
            <a:endParaRPr sz="1500" b="0">
              <a:solidFill>
                <a:srgbClr val="DDE7F2"/>
              </a:solidFill>
              <a:latin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sz="1500" b="0">
                <a:solidFill>
                  <a:srgbClr val="DDE7F2"/>
                </a:solidFill>
                <a:latin typeface="微软雅黑" panose="020B0503020204020204" charset="-122"/>
              </a:rPr>
              <a:t>代码与结果：见「后续工作/」目录（README.md 附复现说明）</a:t>
            </a:r>
            <a:endParaRPr sz="1500" b="0">
              <a:solidFill>
                <a:srgbClr val="DDE7F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WPS 演示</Application>
  <PresentationFormat>On-screen Show (4:3)</PresentationFormat>
  <Paragraphs>222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WPS_1753503192</cp:lastModifiedBy>
  <cp:revision>2</cp:revision>
  <dcterms:created xsi:type="dcterms:W3CDTF">2013-01-27T09:14:00Z</dcterms:created>
  <dcterms:modified xsi:type="dcterms:W3CDTF">2026-08-22T07:03:21Z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6CB293505DC64B7CB9531F5E8CE0AEA7_12</vt:lpwstr>
  </property>
  <property fmtid="{D5CDD505-2E9C-101B-9397-08002B2CF9AE}" pid="3" name="KSOProductBuildVer">
    <vt:lpwstr>2052-12.1.0.28043</vt:lpwstr>
  </property>
</Properties>
</file>