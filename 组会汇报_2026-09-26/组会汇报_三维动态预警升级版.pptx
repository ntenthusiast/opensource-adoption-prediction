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命中率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旧问卷规则</c:v>
                </c:pt>
                <c:pt idx="1">
                  <c:v>双源同时收缩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80.0</c:v>
                </c:pt>
                <c:pt idx="1">
                  <c:v>100.0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找回率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旧问卷规则</c:v>
                </c:pt>
                <c:pt idx="1">
                  <c:v>双源同时收缩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57.1</c:v>
                </c:pt>
                <c:pt idx="1">
                  <c:v>42.9</c:v>
                </c:pt>
              </c:numCache>
            </c:numRef>
          </c:val>
        </c:ser>
        <c:dLbls>
          <c:numFmt formatCode="0.0&quot;%&quot;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A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234440"/>
            <a:ext cx="10698480" cy="9144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4300" b="1">
                <a:solidFill>
                  <a:srgbClr val="FFFFFF"/>
                </a:solidFill>
                <a:latin typeface="Microsoft YaHei"/>
              </a:defRPr>
            </a:pPr>
            <a:r>
              <a:t>开源技术三维动态预警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359152"/>
            <a:ext cx="10424160" cy="62179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2500" b="0">
                <a:solidFill>
                  <a:srgbClr val="D6EEED"/>
                </a:solidFill>
                <a:latin typeface="Microsoft YaHei"/>
              </a:defRPr>
            </a:pPr>
            <a:r>
              <a:t>加入 GitHub 评论活动后的规则与回测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" y="5650992"/>
            <a:ext cx="822960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D6EEED"/>
                </a:solidFill>
                <a:latin typeface="Microsoft YaHei"/>
              </a:defRPr>
            </a:pPr>
            <a:r>
              <a:t>组会汇报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3100" b="1">
                <a:solidFill>
                  <a:srgbClr val="162A41"/>
                </a:solidFill>
                <a:latin typeface="Microsoft YaHei"/>
              </a:defRPr>
            </a:pPr>
            <a:r>
              <a:t>为什么改预警系统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473952"/>
            <a:ext cx="1088136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依据：项目原始预警代码及本次双源回测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353312"/>
            <a:ext cx="10607040" cy="8229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2500" b="1">
                <a:solidFill>
                  <a:srgbClr val="162A41"/>
                </a:solidFill>
                <a:latin typeface="Microsoft YaHei"/>
              </a:defRPr>
            </a:pPr>
            <a:r>
              <a:t>原系统的使用率、想用率、欣赏率都来自同一份调查。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633472"/>
            <a:ext cx="10515600" cy="8229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2400" b="0">
                <a:solidFill>
                  <a:srgbClr val="007E80"/>
                </a:solidFill>
                <a:latin typeface="Microsoft YaHei"/>
              </a:defRPr>
            </a:pPr>
            <a:r>
              <a:t>新增独立的 GitHub 主仓评论量，观察社区讨论是否也在收缩。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4178808"/>
            <a:ext cx="10607040" cy="9144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162A41"/>
                </a:solidFill>
                <a:latin typeface="Microsoft YaHei"/>
              </a:defRPr>
            </a:pPr>
            <a:r>
              <a:t>目标：把预警变成可操作的核查顺序，并检验它是否比旧规则更准。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3100" b="1">
                <a:solidFill>
                  <a:srgbClr val="162A41"/>
                </a:solidFill>
                <a:latin typeface="Microsoft YaHei"/>
              </a:defRPr>
            </a:pPr>
            <a:r>
              <a:t>新版三维分别看什么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473952"/>
            <a:ext cx="1088136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问卷指标来自 panel.csv；评论数来自 GitHub 公开 Issue/PR 对话评论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03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9224" y="1426464"/>
          <a:ext cx="1124712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251960"/>
                <a:gridCol w="4800600"/>
              </a:tblGrid>
              <a:tr h="832104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维度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具体指标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在预警中的用途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使用规模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当年问卷使用率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同级警报中优先核查影响面较大的技术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使用意愿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想用率－使用率连续两年为负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发出问卷警报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社区活动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主仓评论数较上一年下降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发出评论警报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49808" y="5193792"/>
            <a:ext cx="10607040" cy="6400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C36623"/>
                </a:solidFill>
                <a:latin typeface="Microsoft YaHei"/>
              </a:defRPr>
            </a:pPr>
            <a:r>
              <a:t>评论量衡量讨论数量，不等于满意度；使用率用于排序，不冒充衰退概率。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3100" b="1">
                <a:solidFill>
                  <a:srgbClr val="162A41"/>
                </a:solidFill>
                <a:latin typeface="Microsoft YaHei"/>
              </a:defRPr>
            </a:pPr>
            <a:r>
              <a:t>双源预警怎样发出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473952"/>
            <a:ext cx="1088136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阈值在回测前固定；只使用当年及以前的信息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04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307592"/>
          <a:ext cx="112471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2423160"/>
                <a:gridCol w="4983480"/>
              </a:tblGrid>
              <a:tr h="713232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问卷警报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评论警报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输出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核查动作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有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有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双源收缩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优先人工核查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有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问卷单源警报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检查问卷口径与仓库代表性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有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评论单源警报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检查项目维护及讨论变化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暂无收缩信号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继续观察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04088" y="5586984"/>
            <a:ext cx="10789920" cy="48463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07E80"/>
                </a:solidFill>
                <a:latin typeface="Microsoft YaHei"/>
              </a:defRPr>
            </a:pPr>
            <a:r>
              <a:t>历史年份不连续时输出“历史不足”，不把缺数据算成安全。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3100" b="1">
                <a:solidFill>
                  <a:srgbClr val="162A41"/>
                </a:solidFill>
                <a:latin typeface="Microsoft YaHei"/>
              </a:defRPr>
            </a:pPr>
            <a:r>
              <a:t>数据与检验范围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473952"/>
            <a:ext cx="1088136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来源：Stack Overflow 技术面板；GitHub 公开评论 API；逐项明细见结果 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399032"/>
            <a:ext cx="10515600" cy="54864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2700" b="1">
                <a:solidFill>
                  <a:srgbClr val="007E80"/>
                </a:solidFill>
                <a:latin typeface="Microsoft YaHei"/>
              </a:defRPr>
            </a:pPr>
            <a:r>
              <a:t>7 个公开主仓的年度评论数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276856"/>
            <a:ext cx="1051560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162A41"/>
                </a:solidFill>
                <a:latin typeface="Microsoft YaHei"/>
              </a:defRPr>
            </a:pPr>
            <a:r>
              <a:t>其中 5 项技术有连续问卷历史，可比较旧规则和新规则。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3502152"/>
            <a:ext cx="10515600" cy="12801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162A41"/>
                </a:solidFill>
                <a:latin typeface="Microsoft YaHei"/>
              </a:defRPr>
            </a:pPr>
            <a:r>
              <a:t>检验下一年问卷使用率下降：12 条技术年度记录。</a:t>
            </a:r>
          </a:p>
          <a:p>
            <a:pPr>
              <a:spcAft>
                <a:spcPts val="1000"/>
              </a:spcAft>
              <a:defRPr sz="2200" b="0">
                <a:solidFill>
                  <a:srgbClr val="162A41"/>
                </a:solidFill>
                <a:latin typeface="Microsoft YaHei"/>
              </a:defRPr>
            </a:pPr>
            <a:r>
              <a:t>检验下一年主仓评论量下降：17 条技术年度记录。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5349240"/>
            <a:ext cx="10515600" cy="61264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C36623"/>
                </a:solidFill>
                <a:latin typeface="Microsoft YaHei"/>
              </a:defRPr>
            </a:pPr>
            <a:r>
              <a:t>技术年度记录不是个人；样本少，下面的百分比只作探索性比较。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3100" b="1">
                <a:solidFill>
                  <a:srgbClr val="162A41"/>
                </a:solidFill>
                <a:latin typeface="Microsoft YaHei"/>
              </a:defRPr>
            </a:pPr>
            <a:r>
              <a:t>旧规则有一定信号，但并不稳定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473952"/>
            <a:ext cx="1088136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来源：code/results/tables/warning_validation_so.csv 及 warning_validation_by_year.csv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06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517904"/>
          <a:ext cx="10652760" cy="2386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3063240"/>
                <a:gridCol w="2560320"/>
                <a:gridCol w="2194560"/>
              </a:tblGrid>
              <a:tr h="795528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下一年使用率下降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没有下降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下降比例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</a:tr>
              <a:tr h="795528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发出问卷警报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46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23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66.7%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  <a:tr h="795528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没有问卷警报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33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42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44.0%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0120" y="4251960"/>
            <a:ext cx="10241280" cy="685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007E80"/>
                </a:solidFill>
                <a:latin typeface="Microsoft YaHei"/>
              </a:defRPr>
            </a:pPr>
            <a:r>
              <a:t>共 144 条记录。警报组的下降比例高出 22.7 个百分点。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5202936"/>
            <a:ext cx="10332720" cy="66751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C36623"/>
                </a:solidFill>
                <a:latin typeface="Microsoft YaHei"/>
              </a:defRPr>
            </a:pPr>
            <a:r>
              <a:t>按年份分开看，结果有反转；旧规则还不能作为稳定的自动判定。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3100" b="1">
                <a:solidFill>
                  <a:srgbClr val="162A41"/>
                </a:solidFill>
                <a:latin typeface="Microsoft YaHei"/>
              </a:defRPr>
            </a:pPr>
            <a:r>
              <a:t>测试一：能否筛出下一年使用率下降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473952"/>
            <a:ext cx="1088136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五项技术、12 条可比记录；四种规则在完全相同的样本上测试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07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08176"/>
          <a:ext cx="1074420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1143000"/>
                <a:gridCol w="1143000"/>
                <a:gridCol w="1143000"/>
                <a:gridCol w="1143000"/>
                <a:gridCol w="1920240"/>
                <a:gridCol w="1920240"/>
              </a:tblGrid>
              <a:tr h="649224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规则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警报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命中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误报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漏报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命中率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找回率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原规则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80.0%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57.1%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只看评论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60.0%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42.9%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双源同时收缩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42.9%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任一信号收缩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57.1%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57.1%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76656" y="5020056"/>
            <a:ext cx="10744200" cy="53035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007E80"/>
                </a:solidFill>
                <a:latin typeface="Microsoft YaHei"/>
              </a:defRPr>
            </a:pPr>
            <a:r>
              <a:t>双源同时收缩：3 次警报都命中；旧规则 5 次中命中 4 次。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5623560"/>
            <a:ext cx="10698480" cy="48463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C36623"/>
                </a:solidFill>
                <a:latin typeface="Microsoft YaHei"/>
              </a:defRPr>
            </a:pPr>
            <a:r>
              <a:t>代价：双源规则漏掉 4 次下降，旧规则漏掉 3 次。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3100" b="1">
                <a:solidFill>
                  <a:srgbClr val="162A41"/>
                </a:solidFill>
                <a:latin typeface="Microsoft YaHei"/>
              </a:defRPr>
            </a:pPr>
            <a:r>
              <a:t>命中更准，也可能漏掉更多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473952"/>
            <a:ext cx="1088136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来源：multisignal_backtest_comparison.csv；该图只比较相同的 12 条记录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08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77240" y="1399032"/>
          <a:ext cx="6675120" cy="435254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662672" y="1655064"/>
            <a:ext cx="3749039" cy="1828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62A41"/>
                </a:solidFill>
                <a:latin typeface="Microsoft YaHei"/>
              </a:defRPr>
            </a:pPr>
            <a:r>
              <a:t>蓝色：命中率，警报有多准。</a:t>
            </a:r>
          </a:p>
          <a:p>
            <a:pPr>
              <a:spcAft>
                <a:spcPts val="1000"/>
              </a:spcAft>
              <a:defRPr sz="1800" b="0">
                <a:solidFill>
                  <a:srgbClr val="162A41"/>
                </a:solidFill>
                <a:latin typeface="Microsoft YaHei"/>
              </a:defRPr>
            </a:pPr>
            <a:r>
              <a:t>红色：找回率，下降检出多少。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62672" y="4233672"/>
            <a:ext cx="3794760" cy="13258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C36623"/>
                </a:solidFill>
                <a:latin typeface="Microsoft YaHei"/>
              </a:defRPr>
            </a:pPr>
            <a:r>
              <a:t>双源规则适合排人工核查的优先级，尚不能替代广覆盖监测。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3100" b="1">
                <a:solidFill>
                  <a:srgbClr val="162A41"/>
                </a:solidFill>
                <a:latin typeface="Microsoft YaHei"/>
              </a:defRPr>
            </a:pPr>
            <a:r>
              <a:t>测试二：能否筛出下一年评论量下降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473952"/>
            <a:ext cx="1088136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五项技术、17 条可比记录；评论量是独立于问卷的结果变量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09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08176"/>
          <a:ext cx="1074420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1143000"/>
                <a:gridCol w="1143000"/>
                <a:gridCol w="1143000"/>
                <a:gridCol w="1143000"/>
                <a:gridCol w="1920240"/>
                <a:gridCol w="1920240"/>
              </a:tblGrid>
              <a:tr h="649224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规则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警报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命中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误报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漏报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命中率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找回率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原规则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66.7%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60.0%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只看评论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75.0%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60.0%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双源同时收缩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80.0%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40.0%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任一信号收缩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66.7%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80.0%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76656" y="5020056"/>
            <a:ext cx="10744200" cy="53035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007E80"/>
                </a:solidFill>
                <a:latin typeface="Microsoft YaHei"/>
              </a:defRPr>
            </a:pPr>
            <a:r>
              <a:t>双源规则误报更少（1 次对 3 次），但漏报更多（6 次对 4 次）。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5623560"/>
            <a:ext cx="10698480" cy="48463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C36623"/>
                </a:solidFill>
                <a:latin typeface="Microsoft YaHei"/>
              </a:defRPr>
            </a:pPr>
            <a:r>
              <a:t>只要任一信号收缩就警报，可找回 8/10 次下降，但会发出 4 次误报。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3100" b="1">
                <a:solidFill>
                  <a:srgbClr val="162A41"/>
                </a:solidFill>
                <a:latin typeface="Microsoft YaHei"/>
              </a:defRPr>
            </a:pPr>
            <a:r>
              <a:t>具体技术说明了信号冲突的价值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473952"/>
            <a:ext cx="1088136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表中后续评论数只用于事后检验，没有进入当年的预警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04088" y="1389888"/>
          <a:ext cx="11155680" cy="3730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108960"/>
                <a:gridCol w="2057400"/>
                <a:gridCol w="2057400"/>
                <a:gridCol w="1920240"/>
              </a:tblGrid>
              <a:tr h="621792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技术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当年信号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当年评论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后续评论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实际变化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Express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双源收缩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603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424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下降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Flask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双源收缩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646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420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下降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Ruby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问卷单源警报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1972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1988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上升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Kotlin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评论单源警报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831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363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下降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jQuery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问卷单源警报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464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403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下降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49808" y="5367528"/>
            <a:ext cx="10607040" cy="6400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007E80"/>
                </a:solidFill>
                <a:latin typeface="Microsoft YaHei"/>
              </a:defRPr>
            </a:pPr>
            <a:r>
              <a:t>Ruby 的问卷警报没有对应评论下降；Kotlin 只有评论警报却随后下降。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3100" b="1">
                <a:solidFill>
                  <a:srgbClr val="162A41"/>
                </a:solidFill>
                <a:latin typeface="Microsoft YaHei"/>
              </a:defRPr>
            </a:pPr>
            <a:r>
              <a:t>当前可用的核查清单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473952"/>
            <a:ext cx="1088136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依据：code/results/tables/multisignal_warning_v2_latest.csv；使用率只用于同级排序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40664" y="1307592"/>
          <a:ext cx="11155680" cy="4242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17320"/>
                <a:gridCol w="1417320"/>
                <a:gridCol w="4251960"/>
                <a:gridCol w="2057400"/>
              </a:tblGrid>
              <a:tr h="530352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技术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问卷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评论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输出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使用率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Express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警报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警报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双源收缩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23.5%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Flask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警报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警报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双源收缩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14.9%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jQuery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警报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问卷单源警报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29.1%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Kotlin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警报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评论单源警报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9.2%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Ruby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警报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问卷单源警报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6.1%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Phoenix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不足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警报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问卷历史不足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2.2%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Fastify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不足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问卷历史不足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1.9%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33288"/>
            <a:ext cx="10515600" cy="38404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07E80"/>
                </a:solidFill>
                <a:latin typeface="Microsoft YaHei"/>
              </a:defRPr>
            </a:pPr>
            <a:r>
              <a:t>Express、Flask 优先人工核查；Fastify、Phoenix 的问卷历史不足。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3100" b="1">
                <a:solidFill>
                  <a:srgbClr val="162A41"/>
                </a:solidFill>
                <a:latin typeface="Microsoft YaHei"/>
              </a:defRPr>
            </a:pPr>
            <a:r>
              <a:t>结论：先做核查排序，再扩大验证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473952"/>
            <a:ext cx="1088136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完整方法、逐项预测及限制见研究记录_多源因变量与动态预警.md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408176"/>
            <a:ext cx="10652760" cy="694944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2300" b="1">
                <a:solidFill>
                  <a:srgbClr val="007E80"/>
                </a:solidFill>
                <a:latin typeface="Microsoft YaHei"/>
              </a:defRPr>
            </a:pPr>
            <a:r>
              <a:t>加入评论量后，双源警报的命中比例提高，误报减少。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551176"/>
            <a:ext cx="10561320" cy="9144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C36623"/>
                </a:solidFill>
                <a:latin typeface="Microsoft YaHei"/>
              </a:defRPr>
            </a:pPr>
            <a:r>
              <a:t>它同时漏掉更多下降；五项技术的样本不足以证明总体预测更强。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3941063"/>
            <a:ext cx="10561320" cy="9144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162A41"/>
                </a:solidFill>
                <a:latin typeface="Microsoft YaHei"/>
              </a:defRPr>
            </a:pPr>
            <a:r>
              <a:t>实际用途：把双源收缩排在人工核查前面，单源冲突保留为待查。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5202936"/>
            <a:ext cx="10515600" cy="685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162A41"/>
                </a:solidFill>
                <a:latin typeface="Microsoft YaHei"/>
              </a:defRPr>
            </a:pPr>
            <a:r>
              <a:t>下一步：扩充独立仓库，区分机器人与人工评论，并检验新的未来年份。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