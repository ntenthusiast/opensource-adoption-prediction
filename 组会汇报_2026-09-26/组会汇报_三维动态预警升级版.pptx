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34440"/>
            <a:ext cx="1069848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FFFFFF"/>
                </a:solidFill>
                <a:latin typeface="Microsoft YaHei"/>
              </a:defRPr>
            </a:pPr>
            <a:r>
              <a:t>开源技术三维动态预警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359152"/>
            <a:ext cx="10424160" cy="621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D6EEED"/>
                </a:solidFill>
                <a:latin typeface="Microsoft YaHei"/>
              </a:defRPr>
            </a:pPr>
            <a:r>
              <a:t>扩大技术样本后的近期年度回测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5650992"/>
            <a:ext cx="8229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D6EEED"/>
                </a:solidFill>
                <a:latin typeface="Microsoft YaHei"/>
              </a:defRPr>
            </a:pPr>
            <a:r>
              <a:t>组会汇报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本轮只改样本与年份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对照：前版结果 CSV；本轮结果 CSV 与官方调查原始数据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02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9224" y="1307592"/>
          <a:ext cx="11247119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977639"/>
                <a:gridCol w="4343400"/>
              </a:tblGrid>
              <a:tr h="630936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前版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本轮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可评估技术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5 项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27 项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使用率结果记录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12 条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59 条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评论量结果记录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17 条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61 条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预警年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较早的连续年份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2022—2024 年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最终结果年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截至 2023 年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截至 2025 年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0664" y="5705856"/>
            <a:ext cx="10789920" cy="52120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C36623"/>
                </a:solidFill>
                <a:latin typeface="Microsoft YaHei"/>
              </a:defRPr>
            </a:pPr>
            <a:r>
              <a:t>两版的规则和命中定义相同；不同样本的百分比不可当作模型提升直接相减。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规则保持不变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问卷：Stack Overflow；评论：GitHub 主仓 Issue/PR 对话评论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03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80744"/>
          <a:ext cx="1124712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572000"/>
                <a:gridCol w="4526280"/>
              </a:tblGrid>
              <a:tr h="80467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当年可用数据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使用规模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问卷使用率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同级警报中安排核查顺序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使用意愿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想用率－使用率连续两年为负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问卷警报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社区活动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当年评论量比上年少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评论警报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" y="5084064"/>
            <a:ext cx="10607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07E80"/>
                </a:solidFill>
                <a:latin typeface="Microsoft YaHei"/>
              </a:defRPr>
            </a:pPr>
            <a:r>
              <a:t>双源＝两种警报同时出现；任一信号＝出现其中一种就警报。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5641848"/>
            <a:ext cx="1060704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C36623"/>
                </a:solidFill>
                <a:latin typeface="Microsoft YaHei"/>
              </a:defRPr>
            </a:pPr>
            <a:r>
              <a:t>评论量是讨论数量，不代表满意度或技术整体用户规模。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怎么检验：先警报，再看下一年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源数据：panel_extended.csv；github_comment_yearly.csv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353312"/>
            <a:ext cx="1069848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62A41"/>
                </a:solidFill>
                <a:latin typeface="Microsoft YaHei"/>
              </a:defRPr>
            </a:pPr>
            <a:r>
              <a:t>① 用 t－1 年和 t 年的问卷、评论量，决定 t 年是否报警。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505456"/>
            <a:ext cx="1069848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62A41"/>
                </a:solidFill>
                <a:latin typeface="Microsoft YaHei"/>
              </a:defRPr>
            </a:pPr>
            <a:r>
              <a:t>② 用 t＋1 年问卷使用率或评论量，核对当年的警报。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675887"/>
            <a:ext cx="10698480" cy="1005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007E80"/>
                </a:solidFill>
                <a:latin typeface="Microsoft YaHei"/>
              </a:defRPr>
            </a:pPr>
            <a:r>
              <a:t>③ 逐年记录命中、误报、漏报和正确未报；四种规则用同一批有效记录。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5330952"/>
            <a:ext cx="10698480" cy="7863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C36623"/>
                </a:solidFill>
                <a:latin typeface="Microsoft YaHei"/>
              </a:defRPr>
            </a:pPr>
            <a:r>
              <a:t>2025 年只作已完成的结果年；不把尚未结束的 2026 年当作回测结果。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近期样本到底有多少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完整技术与仓库清单：multisignal_recent_coverage.csv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05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8096" y="1389888"/>
          <a:ext cx="10881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931920"/>
                <a:gridCol w="3931920"/>
              </a:tblGrid>
              <a:tr h="694944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预警年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使用率可评估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评论量可评估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59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5528" y="5340096"/>
            <a:ext cx="10607040" cy="7040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007E80"/>
                </a:solidFill>
                <a:latin typeface="Microsoft YaHei"/>
              </a:defRPr>
            </a:pPr>
            <a:r>
              <a:t>纳入 27 项技术；一项技术在不同预警年可贡献多条记录。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5852160"/>
            <a:ext cx="1060704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C36623"/>
                </a:solidFill>
                <a:latin typeface="Microsoft YaHei"/>
              </a:defRPr>
            </a:pPr>
            <a:r>
              <a:t>只有前一年、当年和下一年所需数据都齐全时，才纳入对应终点。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测试一：下一年使用率是否下降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59 条技术年度记录；其中 23 条实际下降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06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1065276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914400"/>
                <a:gridCol w="914400"/>
                <a:gridCol w="914400"/>
                <a:gridCol w="914400"/>
                <a:gridCol w="1463040"/>
                <a:gridCol w="1691640"/>
                <a:gridCol w="1691640"/>
              </a:tblGrid>
              <a:tr h="64922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规则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命中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误报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漏报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正确未报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命中率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找回率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原问卷规则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45.0%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39.1%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只看评论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41.7%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65.2%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双源同时收缩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63.6%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30.4%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任一信号收缩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37.8%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73.9%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656" y="5056632"/>
            <a:ext cx="1074420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07E80"/>
                </a:solidFill>
                <a:latin typeface="Microsoft YaHei"/>
              </a:defRPr>
            </a:pPr>
            <a:r>
              <a:t>双源：11 次警报命中 7 次；旧规则：20 次中命中 9 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5669280"/>
            <a:ext cx="1074420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C36623"/>
                </a:solidFill>
                <a:latin typeface="Microsoft YaHei"/>
              </a:defRPr>
            </a:pPr>
            <a:r>
              <a:t>双源漏报 16 次，旧规则漏报 14 次；同时看命中率和找回率。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测试二：下一年评论量是否下降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61 条技术年度记录；其中 47 条实际下降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07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1065276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914400"/>
                <a:gridCol w="914400"/>
                <a:gridCol w="914400"/>
                <a:gridCol w="914400"/>
                <a:gridCol w="1463040"/>
                <a:gridCol w="1691640"/>
                <a:gridCol w="1691640"/>
              </a:tblGrid>
              <a:tr h="64922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规则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命中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误报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漏报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正确未报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命中率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找回率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原问卷规则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71.4%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31.9%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只看评论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76.3%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61.7%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双源同时收缩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83.3%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21.3%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任一信号收缩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72.3%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72.3%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656" y="5056632"/>
            <a:ext cx="1074420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07E80"/>
                </a:solidFill>
                <a:latin typeface="Microsoft YaHei"/>
              </a:defRPr>
            </a:pPr>
            <a:r>
              <a:t>双源误报 2 次，旧规则误报 6 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5669280"/>
            <a:ext cx="1074420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C36623"/>
                </a:solidFill>
                <a:latin typeface="Microsoft YaHei"/>
              </a:defRPr>
            </a:pPr>
            <a:r>
              <a:t>双源漏报 37 次，旧规则漏报 32 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分开按年看，避免合并结果掩盖波动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下一年使用率结果；逐年明细：multisignal_recent_by_year.csv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08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9224" y="1417320"/>
          <a:ext cx="11064236" cy="314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914400"/>
                <a:gridCol w="1325880"/>
                <a:gridCol w="1874519"/>
                <a:gridCol w="1874519"/>
                <a:gridCol w="1874519"/>
                <a:gridCol w="1874519"/>
              </a:tblGrid>
              <a:tr h="78638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预警年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样本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实际下降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旧规则命中率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旧规则找回率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双源命中率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双源找回率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80.0%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40.0%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30.0%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83.3%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38.5%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80.0%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30.8%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9808" y="5056632"/>
            <a:ext cx="10607040" cy="8412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C36623"/>
                </a:solidFill>
                <a:latin typeface="Microsoft YaHei"/>
              </a:defRPr>
            </a:pPr>
            <a:r>
              <a:t>2024 年这组技术没有下一年下降；找回率的分母为零，故显示“—”。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看真实记录：命中、误报与漏报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跨预警年份分层举例；双源规则以问卷与评论同时报警为准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09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9224" y="1344168"/>
          <a:ext cx="11247119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264"/>
                <a:gridCol w="1856231"/>
                <a:gridCol w="1207008"/>
                <a:gridCol w="1207008"/>
                <a:gridCol w="1627632"/>
                <a:gridCol w="2240280"/>
                <a:gridCol w="2139696"/>
              </a:tblGrid>
              <a:tr h="60350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预警年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问卷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评论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双源输出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使用率→下一年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事后判定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Express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23.45%→20.68%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命中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Gatsby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2.50%→1.68%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命中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Flask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13.05%→13.83%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误报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jQuery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22.99%→24.10%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误报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Redis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不警报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21.30%→20.82%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漏报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FastAPI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不警报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7.96%→10.63%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正确未报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9808" y="5797296"/>
            <a:ext cx="10607040" cy="4846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07E80"/>
                </a:solidFill>
                <a:latin typeface="Microsoft YaHei"/>
              </a:defRPr>
            </a:pPr>
            <a:r>
              <a:t>分层示例并非随机样本；完整 59 条中：命中 7、误报 4、漏报 16、正确未报 32。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待核查清单：尚未验证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依据 2025 年完整问卷与主仓评论；2026 年结果尚未用于回测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67512" y="1252728"/>
          <a:ext cx="1124712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463040"/>
                <a:gridCol w="1463040"/>
                <a:gridCol w="4160520"/>
                <a:gridCol w="2103120"/>
              </a:tblGrid>
              <a:tr h="56692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问卷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评论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输出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使用率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C#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双源收缩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27.9%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jQuery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双源收缩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24.1%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Express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双源收缩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20.5%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Spring Boot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双源收缩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15.1%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Flask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双源收缩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14.8%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Laravel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双源收缩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9.2%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H2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警报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双源收缩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5.1%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9808" y="5980176"/>
            <a:ext cx="1060704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07E80"/>
                </a:solidFill>
                <a:latin typeface="Microsoft YaHei"/>
              </a:defRPr>
            </a:pPr>
            <a:r>
              <a:t>共 25 项有两路历史；此处仅展示人工核查顺序，不能当成有效预测。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必须单看 2025 年问卷的整体上移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诊断表：multisignal_recent_survey_shift.csv；survey_coverage_recent.csv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" y="1307592"/>
            <a:ext cx="1060704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7E80"/>
                </a:solidFill>
                <a:latin typeface="Microsoft YaHei"/>
              </a:defRPr>
            </a:pPr>
            <a:r>
              <a:t>在两年都出现的 101 项技术中，87 项的问卷使用率上升；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2231136"/>
            <a:ext cx="1060704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62A41"/>
                </a:solidFill>
                <a:latin typeface="Microsoft YaHei"/>
              </a:defRPr>
            </a:pPr>
            <a:r>
              <a:t>Web 框架为 25/25；本轮 2024 年预警对应的 25 项也全部上升。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3401568"/>
            <a:ext cx="10607040" cy="7589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62A41"/>
                </a:solidFill>
                <a:latin typeface="Microsoft YaHei"/>
              </a:defRPr>
            </a:pPr>
            <a:r>
              <a:t>语言使用题有效回答：2024 年 59,745 人，2025 年 31,671 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4526280"/>
            <a:ext cx="1060704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07E80"/>
                </a:solidFill>
                <a:latin typeface="Microsoft YaHei"/>
              </a:defRPr>
            </a:pPr>
            <a:r>
              <a:t>较早两组预警年合计 34 条：双源命中率 87.5%，旧规则 81.8%；仅用于定位跨年差异。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5650992"/>
            <a:ext cx="106070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C36623"/>
                </a:solidFill>
                <a:latin typeface="Microsoft YaHei"/>
              </a:defRPr>
            </a:pPr>
            <a:r>
              <a:t>这提示调查受访者或选项口径可能变化；不能把整体上移直接解释为技术都增长。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怎样理解这次扩样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方法与筛选限制见研究记录_多源因变量与动态预警.md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399032"/>
            <a:ext cx="10561320" cy="7040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7E80"/>
                </a:solidFill>
                <a:latin typeface="Microsoft YaHei"/>
              </a:defRPr>
            </a:pPr>
            <a:r>
              <a:t>样本增加后，先看命中和漏报是否仍能同时接受。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551176"/>
            <a:ext cx="1056132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62A41"/>
                </a:solidFill>
                <a:latin typeface="Microsoft YaHei"/>
              </a:defRPr>
            </a:pPr>
            <a:r>
              <a:t>不同年份的问卷受访者不是同一批人；技术选项与有效回答数也会变化。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776472"/>
            <a:ext cx="10561320" cy="9509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62A41"/>
                </a:solidFill>
                <a:latin typeface="Microsoft YaHei"/>
              </a:defRPr>
            </a:pPr>
            <a:r>
              <a:t>一个 GitHub 主仓只代表部分社区活动；评论减少不一定意味着技术衰退。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5184648"/>
            <a:ext cx="1056132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36623"/>
                </a:solidFill>
                <a:latin typeface="Microsoft YaHei"/>
              </a:defRPr>
            </a:pPr>
            <a:r>
              <a:t>仓库按可核验的完整年度计数纳入，不能代表所有开源技术。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结论：近期样本尚不能支持直接应用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逐项结果、仓库和年份均可在本项目 CSV 中复核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380744"/>
            <a:ext cx="10698480" cy="7589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07E80"/>
                </a:solidFill>
                <a:latin typeface="Microsoft YaHei"/>
              </a:defRPr>
            </a:pPr>
            <a:r>
              <a:t>使用率下降检验：双源命中率 63.6%，找回率 30.4%。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542032"/>
            <a:ext cx="1069848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62A41"/>
                </a:solidFill>
                <a:latin typeface="Microsoft YaHei"/>
              </a:defRPr>
            </a:pPr>
            <a:r>
              <a:t>原问卷规则：命中率 45.0%，找回率 39.1%。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886200"/>
            <a:ext cx="10561320" cy="9326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62A41"/>
                </a:solidFill>
                <a:latin typeface="Microsoft YaHei"/>
              </a:defRPr>
            </a:pPr>
            <a:r>
              <a:t>最近一组（2024 年预警）双源 3 次警报全部误报，不能据合并命中率直接部署。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5276088"/>
            <a:ext cx="105613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C36623"/>
                </a:solidFill>
                <a:latin typeface="Microsoft YaHei"/>
              </a:defRPr>
            </a:pPr>
            <a:r>
              <a:t>扩大样本提升了观察范围，不能自动消除样本选择和跨平台口径问题。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